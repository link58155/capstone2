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Turning Data into Retention: </a:t>
            </a:r>
          </a:p>
          <a:p>
            <a:pPr>
              <a:defRPr sz="3500">
                <a:solidFill>
                  <a:srgbClr val="FFFFFF"/>
                </a:solidFill>
              </a:defRPr>
            </a:pPr>
            <a:r>
              <a:t>Telco’s Churn Prediction Model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52043">
              <a:spcBef>
                <a:spcPts val="500"/>
              </a:spcBef>
              <a:defRPr sz="2464"/>
            </a:pPr>
            <a:r>
              <a:t>Capstone Project Presentation</a:t>
            </a:r>
          </a:p>
          <a:p>
            <a:pPr defTabSz="352043">
              <a:spcBef>
                <a:spcPts val="500"/>
              </a:spcBef>
              <a:defRPr sz="2464"/>
            </a:pPr>
          </a:p>
          <a:p>
            <a:pPr defTabSz="352043">
              <a:spcBef>
                <a:spcPts val="500"/>
              </a:spcBef>
              <a:defRPr sz="2464"/>
            </a:pPr>
            <a:r>
              <a:t>Elliot Gaynon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Business Problem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Telco has seen a sharp rise in customer churn due to increased competition.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Losing customers directly impacts revenue and customer lifetime value.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Reactive retention strategies are costly and inefficient.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 Objective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Develop a predictive model to identify customers most likely to churn.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Enable proactive, targeted retention efforts.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Provide insights into the key drivers behind churn behavior.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Data Overview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7,032 customer records after cleaning.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21 features covering demographics, services, and account details.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Target variable: Customer churn in the previous month.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Key Insights from EDA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Overall churn rate: 26.6%.</a:t>
            </a:r>
          </a:p>
        </p:txBody>
      </p:sp>
      <p:pic>
        <p:nvPicPr>
          <p:cNvPr id="108" name="01_Distribution of Yes_No.png" descr="01_Distribution of Yes_N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7541" y="2282204"/>
            <a:ext cx="5288918" cy="36273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Key Insights from EDA</a:t>
            </a:r>
          </a:p>
        </p:txBody>
      </p:sp>
      <p:sp>
        <p:nvSpPr>
          <p:cNvPr id="11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Customers on month-to-month contracts churn significantly more.</a:t>
            </a:r>
          </a:p>
        </p:txBody>
      </p:sp>
      <p:pic>
        <p:nvPicPr>
          <p:cNvPr id="112" name="02_Percentage Churn by Contract.png" descr="02_Percentage Churn by Contrac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49007" y="2853884"/>
            <a:ext cx="5045986" cy="3682394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Key Insights from EDA</a:t>
            </a:r>
          </a:p>
        </p:txBody>
      </p:sp>
      <p:sp>
        <p:nvSpPr>
          <p:cNvPr id="115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Longer tenure strongly correlates with lower churn.</a:t>
            </a:r>
          </a:p>
        </p:txBody>
      </p:sp>
      <p:pic>
        <p:nvPicPr>
          <p:cNvPr id="116" name="03_Percentage_Churn by Tenure.png" descr="03_Percentage_Churn by Tenur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0883" y="2602688"/>
            <a:ext cx="5742234" cy="3822935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Modeling Approach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Tested Logistic Regression, Random Forest, KNN, and XGBoost.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Handled class imbalance (~3:1 non-churn to churn).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Modeling Approach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Selected best model using ROC-AUC.</a:t>
            </a:r>
          </a:p>
        </p:txBody>
      </p:sp>
      <p:pic>
        <p:nvPicPr>
          <p:cNvPr id="123" name="ROC_AUC Comparison.png" descr="ROC_AUC Compariso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62885" y="2141261"/>
            <a:ext cx="7018230" cy="4148955"/>
          </a:xfrm>
          <a:prstGeom prst="rect">
            <a:avLst/>
          </a:prstGeom>
          <a:ln w="508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Best Model Performance (XGBoost)</a:t>
            </a:r>
          </a:p>
        </p:txBody>
      </p:sp>
      <p:sp>
        <p:nvSpPr>
          <p:cNvPr id="12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ROC-AUC: 84.5% (best among all models).</a:t>
            </a:r>
          </a:p>
        </p:txBody>
      </p:sp>
      <p:pic>
        <p:nvPicPr>
          <p:cNvPr id="127" name="ROC AUC XGBOOST.png" descr="ROC AUC XGBOOS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16666" y="2622304"/>
            <a:ext cx="6510668" cy="38323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Best Model Performance (XGBoost)</a:t>
            </a:r>
          </a:p>
        </p:txBody>
      </p:sp>
      <p:sp>
        <p:nvSpPr>
          <p:cNvPr id="13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While accuracy was 80%, recall for Churn class 54%.</a:t>
            </a:r>
          </a:p>
        </p:txBody>
      </p:sp>
      <p:pic>
        <p:nvPicPr>
          <p:cNvPr id="131" name="classification report before tuning.png" descr="classification report before tun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73250" y="2999581"/>
            <a:ext cx="5397500" cy="172720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Line"/>
          <p:cNvSpPr/>
          <p:nvPr/>
        </p:nvSpPr>
        <p:spPr>
          <a:xfrm>
            <a:off x="4329013" y="3246876"/>
            <a:ext cx="829014" cy="1"/>
          </a:xfrm>
          <a:prstGeom prst="line">
            <a:avLst/>
          </a:prstGeom>
          <a:ln w="25400">
            <a:solidFill>
              <a:schemeClr val="accent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3" name="Line"/>
          <p:cNvSpPr/>
          <p:nvPr/>
        </p:nvSpPr>
        <p:spPr>
          <a:xfrm>
            <a:off x="4562682" y="3762983"/>
            <a:ext cx="361676" cy="1"/>
          </a:xfrm>
          <a:prstGeom prst="line">
            <a:avLst/>
          </a:prstGeom>
          <a:ln w="25400">
            <a:solidFill>
              <a:schemeClr val="accent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Best Model Performance (XGBoost)</a:t>
            </a:r>
          </a:p>
        </p:txBody>
      </p:sp>
      <p:sp>
        <p:nvSpPr>
          <p:cNvPr id="13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Optimized decision threshold to prioritize recall without sacrificing too much precision.</a:t>
            </a:r>
          </a:p>
        </p:txBody>
      </p:sp>
      <p:pic>
        <p:nvPicPr>
          <p:cNvPr id="137" name="Precisino Recall Curve.png" descr="Precisino Recall Curv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1511" y="2756297"/>
            <a:ext cx="6300978" cy="36740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Best Model Performance (XGBoost)</a:t>
            </a:r>
          </a:p>
        </p:txBody>
      </p:sp>
      <p:sp>
        <p:nvSpPr>
          <p:cNvPr id="14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Recall for churners improved to 76%.</a:t>
            </a:r>
          </a:p>
        </p:txBody>
      </p:sp>
      <p:pic>
        <p:nvPicPr>
          <p:cNvPr id="141" name="classification report after tuning.png" descr="classification report after tuning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71650" y="2980531"/>
            <a:ext cx="5600700" cy="1765301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Line"/>
          <p:cNvSpPr/>
          <p:nvPr/>
        </p:nvSpPr>
        <p:spPr>
          <a:xfrm>
            <a:off x="4251192" y="3298757"/>
            <a:ext cx="829014" cy="1"/>
          </a:xfrm>
          <a:prstGeom prst="line">
            <a:avLst/>
          </a:prstGeom>
          <a:ln w="25400">
            <a:solidFill>
              <a:schemeClr val="accent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3" name="Line"/>
          <p:cNvSpPr/>
          <p:nvPr/>
        </p:nvSpPr>
        <p:spPr>
          <a:xfrm>
            <a:off x="4484861" y="3814864"/>
            <a:ext cx="361676" cy="1"/>
          </a:xfrm>
          <a:prstGeom prst="line">
            <a:avLst/>
          </a:prstGeom>
          <a:ln w="25400">
            <a:solidFill>
              <a:schemeClr val="accent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Conclusion &amp; Business Impact</a:t>
            </a:r>
          </a:p>
        </p:txBody>
      </p:sp>
      <p:sp>
        <p:nvSpPr>
          <p:cNvPr id="14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Model accurately identifies high-risk customers before churn occurs.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Supports targeted retention campaigns and better budget allocation.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Prioritizing recall reduces missed churn opportunities.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